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3" r:id="rId2"/>
  </p:sldMasterIdLst>
  <p:notesMasterIdLst>
    <p:notesMasterId r:id="rId21"/>
  </p:notesMasterIdLst>
  <p:sldIdLst>
    <p:sldId id="256" r:id="rId3"/>
    <p:sldId id="269" r:id="rId4"/>
    <p:sldId id="287" r:id="rId5"/>
    <p:sldId id="288" r:id="rId6"/>
    <p:sldId id="257" r:id="rId7"/>
    <p:sldId id="258" r:id="rId8"/>
    <p:sldId id="259" r:id="rId9"/>
    <p:sldId id="260" r:id="rId10"/>
    <p:sldId id="277" r:id="rId11"/>
    <p:sldId id="286" r:id="rId12"/>
    <p:sldId id="284" r:id="rId13"/>
    <p:sldId id="285" r:id="rId14"/>
    <p:sldId id="289" r:id="rId15"/>
    <p:sldId id="291" r:id="rId16"/>
    <p:sldId id="290" r:id="rId17"/>
    <p:sldId id="283" r:id="rId18"/>
    <p:sldId id="278" r:id="rId19"/>
    <p:sldId id="27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31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95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E3BA1-E673-430F-9BEF-6A3E586025DD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F4FCC-419A-451C-A3E8-3263955D83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12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d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7873-A5AE-02D6-AA41-36ED7EEEB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Std Content Page: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329A5-B326-353C-4A88-532DB75DC4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026635"/>
            <a:ext cx="10515600" cy="4351338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514350" indent="-274320">
              <a:buFont typeface="+mj-lt"/>
              <a:buAutoNum type="arabicPeriod"/>
              <a:tabLst>
                <a:tab pos="91440" algn="l"/>
              </a:tabLst>
              <a:defRPr sz="1600">
                <a:solidFill>
                  <a:schemeClr val="tx1"/>
                </a:solidFill>
              </a:defRPr>
            </a:lvl1pPr>
            <a:lvl2pPr marL="914400" indent="-274320">
              <a:buFont typeface="+mj-lt"/>
              <a:buAutoNum type="arabicPeriod"/>
              <a:tabLst>
                <a:tab pos="91440" algn="l"/>
              </a:tabLst>
              <a:defRPr sz="1600">
                <a:solidFill>
                  <a:schemeClr val="tx1"/>
                </a:solidFill>
              </a:defRPr>
            </a:lvl2pPr>
            <a:lvl3pPr marL="1371600" indent="-274320">
              <a:buFont typeface="+mj-lt"/>
              <a:buAutoNum type="arabicPeriod"/>
              <a:tabLst>
                <a:tab pos="91440" algn="l"/>
                <a:tab pos="822960" algn="l"/>
              </a:tabLst>
              <a:defRPr sz="1600">
                <a:solidFill>
                  <a:schemeClr val="tx1"/>
                </a:solidFill>
              </a:defRPr>
            </a:lvl3pPr>
            <a:lvl4pPr marL="1714500" indent="-274320">
              <a:buFont typeface="+mj-lt"/>
              <a:buAutoNum type="arabicPeriod"/>
              <a:tabLst>
                <a:tab pos="91440" algn="l"/>
              </a:tabLst>
              <a:defRPr sz="1600">
                <a:solidFill>
                  <a:schemeClr val="tx1"/>
                </a:solidFill>
              </a:defRPr>
            </a:lvl4pPr>
            <a:lvl5pPr marL="2171700" indent="-274320">
              <a:buFont typeface="+mj-lt"/>
              <a:buAutoNum type="arabicPeriod"/>
              <a:tabLst>
                <a:tab pos="91440" algn="l"/>
              </a:tabLst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 Heading 1</a:t>
            </a:r>
          </a:p>
          <a:p>
            <a:pPr lvl="1"/>
            <a:r>
              <a:rPr lang="en-US" dirty="0"/>
              <a:t>Second level: Heading 2</a:t>
            </a:r>
          </a:p>
          <a:p>
            <a:pPr lvl="2"/>
            <a:r>
              <a:rPr lang="en-US" dirty="0"/>
              <a:t>Third level: Heading 3</a:t>
            </a:r>
          </a:p>
          <a:p>
            <a:pPr lvl="3"/>
            <a:r>
              <a:rPr lang="en-US" dirty="0"/>
              <a:t>Fourth level: Heading 4</a:t>
            </a:r>
          </a:p>
          <a:p>
            <a:pPr lvl="4"/>
            <a:r>
              <a:rPr lang="en-US" dirty="0"/>
              <a:t>Fifth level: Heading 5</a:t>
            </a:r>
          </a:p>
          <a:p>
            <a:pPr lvl="1"/>
            <a:r>
              <a:rPr lang="en-US" dirty="0"/>
              <a:t>Level 2 item</a:t>
            </a:r>
          </a:p>
          <a:p>
            <a:pPr lvl="2"/>
            <a:r>
              <a:rPr lang="en-US" dirty="0"/>
              <a:t>Level 3 item</a:t>
            </a:r>
          </a:p>
          <a:p>
            <a:pPr lvl="2"/>
            <a:r>
              <a:rPr lang="en-US" dirty="0"/>
              <a:t>Level 3</a:t>
            </a:r>
          </a:p>
          <a:p>
            <a:pPr lvl="1"/>
            <a:r>
              <a:rPr lang="en-US" dirty="0"/>
              <a:t>Level 2</a:t>
            </a:r>
          </a:p>
          <a:p>
            <a:pPr lvl="0"/>
            <a:r>
              <a:rPr lang="en-US" dirty="0"/>
              <a:t>Level 1 again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681C8-9CD2-F083-C02A-763DD45A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7DD5-05CF-4070-A37B-F3D86CA7436A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97368-8E3E-ACB9-C5C7-3C39DC4A5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1FCBB-B5DD-1940-D701-F06C092C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79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7873-A5AE-02D6-AA41-36ED7EEE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681C8-9CD2-F083-C02A-763DD45A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980B-565F-4C1B-86E2-9DD7F71A6AB0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97368-8E3E-ACB9-C5C7-3C39DC4A5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1FCBB-B5DD-1940-D701-F06C092C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38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awing_annot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7873-A5AE-02D6-AA41-36ED7EEEB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681C8-9CD2-F083-C02A-763DD45AF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980B-565F-4C1B-86E2-9DD7F71A6AB0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97368-8E3E-ACB9-C5C7-3C39DC4A5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1FCBB-B5DD-1940-D701-F06C092C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FE8F9EF-2D6A-A068-EC93-4ECDACF23E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15438" y="1358283"/>
            <a:ext cx="2609850" cy="4545630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>
            <a:lvl1pPr marL="168275" indent="-168275">
              <a:buFont typeface="+mj-lt"/>
              <a:buAutoNum type="arabicPeriod"/>
              <a:defRPr sz="1200"/>
            </a:lvl1pPr>
            <a:lvl2pPr marL="346075" indent="-177800">
              <a:buFont typeface="+mj-lt"/>
              <a:buAutoNum type="arabicPeriod"/>
              <a:defRPr sz="1100"/>
            </a:lvl2pPr>
            <a:lvl3pPr marL="514350" indent="-168275">
              <a:buFont typeface="+mj-lt"/>
              <a:buAutoNum type="arabicPeriod"/>
              <a:defRPr sz="1050"/>
            </a:lvl3pPr>
            <a:lvl4pPr marL="630238" indent="-115888">
              <a:buFont typeface="+mj-lt"/>
              <a:buAutoNum type="arabicPeriod"/>
              <a:defRPr sz="1000"/>
            </a:lvl4pPr>
            <a:lvl5pPr marL="746125" indent="-115888">
              <a:buFont typeface="+mj-lt"/>
              <a:buAutoNum type="arabicPeriod"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4BFCAC3-AA4F-0052-A37F-C8FE208B1C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15438" y="976313"/>
            <a:ext cx="2609850" cy="301625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 algn="ctr">
              <a:buNone/>
              <a:defRPr sz="1400"/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n-US" dirty="0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211223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1061A-5F08-45BC-F0E4-459CD92C7E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1F8C9-D3F1-526E-D31B-4BF75BCFA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27563-D606-3A49-C96F-872712AA0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59440-8438-4EDA-9196-A17F81AACF8F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BFE86-458E-6EB8-523E-54D3B6C68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C1818-7764-FE66-FDC1-72A2C922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0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1061A-5F08-45BC-F0E4-459CD92C7E3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Separator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27563-D606-3A49-C96F-872712AA0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0C548-7D6B-4ED8-8D7A-50BD43960FA7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BFE86-458E-6EB8-523E-54D3B6C68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C1818-7764-FE66-FDC1-72A2C922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349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9116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5F9D6-D753-E8A7-B6CA-C25477E2E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447"/>
            <a:ext cx="10515600" cy="424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E9421-5AE0-3906-304F-039A907FD3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DC6F4-6430-4F64-890C-465BC48B69C9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627D8-7918-6BBA-C9FB-CEAB77FE9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63DC2-BD61-1050-BBF7-00C1E9B8F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73052-BA07-4FC5-9696-A0F7625044D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072310-2C6E-3B93-9B9B-ADFA5B720D84}"/>
              </a:ext>
            </a:extLst>
          </p:cNvPr>
          <p:cNvCxnSpPr/>
          <p:nvPr userDrawn="1"/>
        </p:nvCxnSpPr>
        <p:spPr>
          <a:xfrm>
            <a:off x="461639" y="674698"/>
            <a:ext cx="114344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61E49D-D9C0-DF72-7AD0-52D63F42C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6449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5139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658" r:id="rId3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5F9D6-D753-E8A7-B6CA-C25477E2E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447"/>
            <a:ext cx="10515600" cy="424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E9421-5AE0-3906-304F-039A907FD3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D03BCF-C762-49F0-9F81-92EC2B9DD1DA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627D8-7918-6BBA-C9FB-CEAB77FE9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63DC2-BD61-1050-BBF7-00C1E9B8F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73052-BA07-4FC5-9696-A0F7625044D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61E49D-D9C0-DF72-7AD0-52D63F42C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6449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6011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7" r:id="rId3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36C76-C168-90E3-6F5B-42B82D38C1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Claude Execution Architecture &amp; Resources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01AE2B-ACDB-2AB0-F834-B8E8B82505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Satya Komatineni</a:t>
            </a:r>
          </a:p>
          <a:p>
            <a:r>
              <a:rPr lang="en-US" sz="1200" b="1" dirty="0"/>
              <a:t>V 1.x (12/29/2025)</a:t>
            </a:r>
            <a:r>
              <a:rPr lang="en-US" sz="1200" dirty="0"/>
              <a:t> [12/29/2025]</a:t>
            </a:r>
          </a:p>
          <a:p>
            <a:r>
              <a:rPr lang="en-US" sz="1600" dirty="0"/>
              <a:t>Location</a:t>
            </a:r>
          </a:p>
          <a:p>
            <a:r>
              <a:rPr lang="en-US" sz="1600" dirty="0"/>
              <a:t>https://github.com/SatyaKomatineni/articles-repo/templates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2881A-64F6-2257-6E4D-296CA226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84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0E3244-86CC-ED51-EFBC-B4D48F99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40BAD-5564-4449-341E-F0DC31C35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6912"/>
            <a:ext cx="10515600" cy="5168678"/>
          </a:xfrm>
          <a:ln>
            <a:solidFill>
              <a:schemeClr val="tx1"/>
            </a:solidFill>
          </a:ln>
        </p:spPr>
        <p:txBody>
          <a:bodyPr tIns="182880"/>
          <a:lstStyle/>
          <a:p>
            <a:r>
              <a:rPr lang="en-US" sz="1800" dirty="0"/>
              <a:t>Claude Execution Architecture for the Enterprise</a:t>
            </a:r>
          </a:p>
          <a:p>
            <a:endParaRPr lang="en-US" sz="1800" dirty="0"/>
          </a:p>
          <a:p>
            <a:r>
              <a:rPr lang="en-US" sz="1800" dirty="0"/>
              <a:t>Claude Product Dimensions</a:t>
            </a:r>
          </a:p>
          <a:p>
            <a:endParaRPr lang="en-US" sz="1800" dirty="0"/>
          </a:p>
          <a:p>
            <a:r>
              <a:rPr lang="en-US" sz="1800" dirty="0"/>
              <a:t>Claude Capability Map</a:t>
            </a:r>
          </a:p>
          <a:p>
            <a:endParaRPr lang="en-US" sz="1800" dirty="0"/>
          </a:p>
          <a:p>
            <a:r>
              <a:rPr lang="en-US" sz="1800" dirty="0"/>
              <a:t>Claude Documentation/website roadmap</a:t>
            </a:r>
          </a:p>
          <a:p>
            <a:endParaRPr lang="en-US" sz="1800" dirty="0"/>
          </a:p>
          <a:p>
            <a:r>
              <a:rPr lang="en-US" sz="1800" dirty="0"/>
              <a:t>Opportunities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065E80-6FA4-305C-D89F-9C4C2F48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0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2BD00F-8EA4-14C5-BD5F-97F9AD513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5248"/>
            <a:ext cx="9144000" cy="2387600"/>
          </a:xfrm>
        </p:spPr>
        <p:txBody>
          <a:bodyPr/>
          <a:lstStyle/>
          <a:p>
            <a:r>
              <a:rPr lang="en-US" dirty="0"/>
              <a:t>Claude Execution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F38F97-C294-632E-FD05-A5A19DE4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037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0E3244-86CC-ED51-EFBC-B4D48F99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Claude Execution Architecture?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40BAD-5564-4449-341E-F0DC31C35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894" y="1550860"/>
            <a:ext cx="3168721" cy="4706102"/>
          </a:xfr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pPr marL="365760"/>
            <a:r>
              <a:rPr lang="en-US" sz="1400" dirty="0"/>
              <a:t>Where does Claude run custom code like MCPs, Skills, Agents </a:t>
            </a:r>
            <a:r>
              <a:rPr lang="en-US" sz="1400" dirty="0" err="1"/>
              <a:t>etc</a:t>
            </a:r>
            <a:r>
              <a:rPr lang="en-US" sz="1400" dirty="0"/>
              <a:t>?</a:t>
            </a:r>
          </a:p>
          <a:p>
            <a:pPr marL="365760"/>
            <a:endParaRPr lang="en-US" sz="1400" dirty="0"/>
          </a:p>
          <a:p>
            <a:pPr marL="365760"/>
            <a:r>
              <a:rPr lang="en-US" sz="1400" dirty="0"/>
              <a:t>When the sources or targets (end points) are cloud based and public like MS 365, </a:t>
            </a:r>
            <a:r>
              <a:rPr lang="en-US" sz="1400" dirty="0" err="1"/>
              <a:t>gmail</a:t>
            </a:r>
            <a:r>
              <a:rPr lang="en-US" sz="1400" dirty="0"/>
              <a:t>, Google Drive it is easy to imagine Claude will connect to them from Claude cloud.</a:t>
            </a:r>
          </a:p>
          <a:p>
            <a:pPr marL="365760"/>
            <a:endParaRPr lang="en-US" sz="1400" dirty="0"/>
          </a:p>
          <a:p>
            <a:pPr marL="365760"/>
            <a:r>
              <a:rPr lang="en-US" sz="1400" dirty="0"/>
              <a:t>What happens when the end points are inside an enterprise?</a:t>
            </a:r>
          </a:p>
          <a:p>
            <a:pPr marL="365760"/>
            <a:r>
              <a:rPr lang="en-US" sz="1400" dirty="0"/>
              <a:t>How does Claude deployment and execution architecture look like for an Enterprise?</a:t>
            </a:r>
          </a:p>
          <a:p>
            <a:pPr marL="365760"/>
            <a:r>
              <a:rPr lang="en-US" sz="1400" dirty="0"/>
              <a:t>Does that change with each mode: Consumer, Enterprise, Claude.ai, Claude Code, Claude Desktop?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065E80-6FA4-305C-D89F-9C4C2F48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C5869-1C71-23F9-51A5-87B74159BC2A}"/>
              </a:ext>
            </a:extLst>
          </p:cNvPr>
          <p:cNvSpPr txBox="1"/>
          <p:nvPr/>
        </p:nvSpPr>
        <p:spPr>
          <a:xfrm>
            <a:off x="601895" y="1037690"/>
            <a:ext cx="3168721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Dilemma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937FFB-E8D6-78CB-6845-E02AA8DE5502}"/>
              </a:ext>
            </a:extLst>
          </p:cNvPr>
          <p:cNvSpPr txBox="1"/>
          <p:nvPr/>
        </p:nvSpPr>
        <p:spPr>
          <a:xfrm>
            <a:off x="4660188" y="1037690"/>
            <a:ext cx="3168721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Challenges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B69C6-8E23-E1C9-6857-8B4F76F11807}"/>
              </a:ext>
            </a:extLst>
          </p:cNvPr>
          <p:cNvSpPr txBox="1"/>
          <p:nvPr/>
        </p:nvSpPr>
        <p:spPr>
          <a:xfrm>
            <a:off x="8523272" y="1037690"/>
            <a:ext cx="3168721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Quick Summary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0A6E5B3-0BA5-943F-B729-8D607E62D02C}"/>
              </a:ext>
            </a:extLst>
          </p:cNvPr>
          <p:cNvSpPr txBox="1">
            <a:spLocks/>
          </p:cNvSpPr>
          <p:nvPr/>
        </p:nvSpPr>
        <p:spPr>
          <a:xfrm>
            <a:off x="4660187" y="1550859"/>
            <a:ext cx="3168721" cy="47061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lIns="0" tIns="45720" rIns="91440" bIns="45720" rtlCol="0">
            <a:noAutofit/>
          </a:bodyPr>
          <a:lstStyle>
            <a:lvl1pPr marL="514350" indent="-27432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tabLst>
                <a:tab pos="91440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2743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tabLst>
                <a:tab pos="91440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2743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tabLst>
                <a:tab pos="91440" algn="l"/>
                <a:tab pos="822960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2743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tabLst>
                <a:tab pos="91440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2743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tabLst>
                <a:tab pos="91440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/>
            <a:r>
              <a:rPr lang="en-US" sz="1400" dirty="0"/>
              <a:t>Enterprise documentation is sparse.</a:t>
            </a:r>
          </a:p>
          <a:p>
            <a:pPr marL="365760"/>
            <a:r>
              <a:rPr lang="en-US" sz="1400" dirty="0"/>
              <a:t>Execution architecture is very unclear from Anthropic docs</a:t>
            </a:r>
          </a:p>
          <a:p>
            <a:pPr marL="365760"/>
            <a:r>
              <a:rPr lang="en-US" sz="1400" dirty="0"/>
              <a:t>No diagrams especially</a:t>
            </a:r>
          </a:p>
          <a:p>
            <a:pPr marL="365760"/>
            <a:r>
              <a:rPr lang="en-US" sz="1400" dirty="0"/>
              <a:t>I have searched developer docs, supporting docs, blogs etc. (See other sources I had searched later in the deck)</a:t>
            </a:r>
          </a:p>
          <a:p>
            <a:pPr marL="365760"/>
            <a:r>
              <a:rPr lang="en-US" sz="1400" dirty="0"/>
              <a:t>There is some level of enterprise docs in the “support” collection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9DB167F-933D-3BB4-F1FE-07F022D86A19}"/>
              </a:ext>
            </a:extLst>
          </p:cNvPr>
          <p:cNvSpPr txBox="1">
            <a:spLocks/>
          </p:cNvSpPr>
          <p:nvPr/>
        </p:nvSpPr>
        <p:spPr>
          <a:xfrm>
            <a:off x="8523271" y="1550858"/>
            <a:ext cx="3168721" cy="4706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lIns="0" tIns="45720" rIns="91440" bIns="45720" rtlCol="0">
            <a:noAutofit/>
          </a:bodyPr>
          <a:lstStyle>
            <a:lvl1pPr marL="514350" indent="-27432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tabLst>
                <a:tab pos="91440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2743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tabLst>
                <a:tab pos="91440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2743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tabLst>
                <a:tab pos="91440" algn="l"/>
                <a:tab pos="822960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2743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tabLst>
                <a:tab pos="91440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27432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tabLst>
                <a:tab pos="91440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/>
            <a:r>
              <a:rPr lang="en-US" sz="1400" dirty="0"/>
              <a:t>For enterprise end points they are defined in the cloud</a:t>
            </a:r>
          </a:p>
          <a:p>
            <a:pPr marL="365760"/>
            <a:r>
              <a:rPr lang="en-US" sz="1400" dirty="0"/>
              <a:t>These end points include remoted MCP endpoints, connectors etc.</a:t>
            </a:r>
          </a:p>
          <a:p>
            <a:pPr marL="365760"/>
            <a:r>
              <a:rPr lang="en-US" sz="1400" dirty="0"/>
              <a:t>Skills also follow the same pattern (in the cloud)</a:t>
            </a:r>
          </a:p>
          <a:p>
            <a:pPr marL="365760"/>
            <a:r>
              <a:rPr lang="en-US" sz="1400" dirty="0"/>
              <a:t>The on-premise connectors are reached through </a:t>
            </a:r>
            <a:r>
              <a:rPr lang="en-US" sz="1400" dirty="0" err="1"/>
              <a:t>oauth</a:t>
            </a:r>
            <a:r>
              <a:rPr lang="en-US" sz="1400" dirty="0"/>
              <a:t> and https.</a:t>
            </a:r>
          </a:p>
          <a:p>
            <a:pPr marL="365760"/>
            <a:r>
              <a:rPr lang="en-US" sz="1400" dirty="0"/>
              <a:t>For </a:t>
            </a:r>
            <a:r>
              <a:rPr lang="en-US" sz="1400" dirty="0" err="1"/>
              <a:t>claude</a:t>
            </a:r>
            <a:r>
              <a:rPr lang="en-US" sz="1400" dirty="0"/>
              <a:t> desktop and </a:t>
            </a:r>
            <a:r>
              <a:rPr lang="en-US" sz="1400" dirty="0" err="1"/>
              <a:t>claude</a:t>
            </a:r>
            <a:r>
              <a:rPr lang="en-US" sz="1400" dirty="0"/>
              <a:t> code, there are some provisions to run them on premise directly</a:t>
            </a:r>
          </a:p>
          <a:p>
            <a:pPr marL="365760"/>
            <a:r>
              <a:rPr lang="en-US" sz="1400" dirty="0"/>
              <a:t>Local MCP servers are targeted for Claude Desktop and runs on the local computer using local computers resources</a:t>
            </a:r>
          </a:p>
          <a:p>
            <a:pPr marL="365760"/>
            <a:r>
              <a:rPr lang="en-US" sz="1400" dirty="0"/>
              <a:t>Likely the same with Claude Code</a:t>
            </a:r>
          </a:p>
          <a:p>
            <a:pPr marL="365760"/>
            <a:r>
              <a:rPr lang="en-US" sz="1400" dirty="0"/>
              <a:t>Both Claude Code and Desktop can use the Remote MCP servers or skills</a:t>
            </a:r>
          </a:p>
        </p:txBody>
      </p:sp>
    </p:spTree>
    <p:extLst>
      <p:ext uri="{BB962C8B-B14F-4D97-AF65-F5344CB8AC3E}">
        <p14:creationId xmlns:p14="http://schemas.microsoft.com/office/powerpoint/2010/main" val="2417922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66798768304_WhatsApp_Image_2025-12-26_at_8_23_05_P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840" y="243840"/>
            <a:ext cx="11704320" cy="6217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63200" y="646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4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66798799349_WhatsApp_Image_2025-12-26_at_8_23_38_P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840" y="243840"/>
            <a:ext cx="11704320" cy="6217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63200" y="646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4</a:t>
            </a:r>
            <a:endParaRPr lang="en-US" sz="13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66798807068_WhatsApp_Image_2025-12-26_at_8_24_11_P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840" y="243840"/>
            <a:ext cx="11704320" cy="6217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63200" y="646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4</a:t>
            </a:r>
            <a:endParaRPr lang="en-US" sz="133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66798814940_WhatsApp_Image_2025-12-26_at_8_24_31_P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840" y="243840"/>
            <a:ext cx="11704320" cy="6217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63200" y="6461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333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133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2BD00F-8EA4-14C5-BD5F-97F9AD5132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Understanding Claude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F38F97-C294-632E-FD05-A5A19DE4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78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702DE1-3F05-2F48-2E52-7AB8ACAD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 Product Dimensions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793D3A-C805-9541-8787-68D59EBE0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10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2E539F-6FE9-EEBE-69E6-9D93FE608D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Each product CAI, CC, CDP available for Consumer, Team, and Enterprise</a:t>
            </a:r>
          </a:p>
          <a:p>
            <a:r>
              <a:rPr lang="en-US" dirty="0"/>
              <a:t>Local MCP Servers – for CDP and CC</a:t>
            </a:r>
          </a:p>
          <a:p>
            <a:r>
              <a:rPr lang="en-US" dirty="0"/>
              <a:t>:Work with laptops, </a:t>
            </a:r>
          </a:p>
          <a:p>
            <a:r>
              <a:rPr lang="en-US" dirty="0"/>
              <a:t>: files, </a:t>
            </a:r>
          </a:p>
          <a:p>
            <a:r>
              <a:rPr lang="en-US" dirty="0"/>
              <a:t>: emails 365 etc.</a:t>
            </a:r>
          </a:p>
          <a:p>
            <a:r>
              <a:rPr lang="en-US" dirty="0"/>
              <a:t>Remote MCP Servers</a:t>
            </a:r>
          </a:p>
          <a:p>
            <a:r>
              <a:rPr lang="en-US" dirty="0"/>
              <a:t>: Public servers for SP, Box,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: Custom MCP servers for Enterprises</a:t>
            </a:r>
          </a:p>
          <a:p>
            <a:r>
              <a:rPr lang="en-US" dirty="0"/>
              <a:t>: CAI, CDP</a:t>
            </a:r>
          </a:p>
          <a:p>
            <a:r>
              <a:rPr lang="en-US" dirty="0"/>
              <a:t>: All use </a:t>
            </a:r>
            <a:r>
              <a:rPr lang="en-US" dirty="0" err="1"/>
              <a:t>oauth</a:t>
            </a:r>
            <a:r>
              <a:rPr lang="en-US" dirty="0"/>
              <a:t> and run from cloud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4E29C9-14FC-18FA-5407-85A0B972A5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E8300D97-5565-E3B6-55AA-74402B6E145B}"/>
              </a:ext>
            </a:extLst>
          </p:cNvPr>
          <p:cNvSpPr txBox="1">
            <a:spLocks/>
          </p:cNvSpPr>
          <p:nvPr/>
        </p:nvSpPr>
        <p:spPr>
          <a:xfrm>
            <a:off x="482404" y="1256249"/>
            <a:ext cx="2609850" cy="1322564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68275" indent="-1682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6075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682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238" indent="-1158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6125" indent="-1158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Claude.ai (website) – CAI</a:t>
            </a:r>
          </a:p>
          <a:p>
            <a:r>
              <a:rPr lang="en-US" dirty="0"/>
              <a:t>Claude Desktop – CDP</a:t>
            </a:r>
          </a:p>
          <a:p>
            <a:r>
              <a:rPr lang="en-US" dirty="0"/>
              <a:t>Claude Code - CC</a:t>
            </a:r>
          </a:p>
          <a:p>
            <a:r>
              <a:rPr lang="en-US" dirty="0"/>
              <a:t>Consumer/Team/Enterprise</a:t>
            </a:r>
          </a:p>
          <a:p>
            <a:r>
              <a:rPr lang="en-US" dirty="0"/>
              <a:t>MCP Dimension</a:t>
            </a:r>
          </a:p>
          <a:p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6C07050-C872-705F-1531-8AF386C056DA}"/>
              </a:ext>
            </a:extLst>
          </p:cNvPr>
          <p:cNvSpPr txBox="1">
            <a:spLocks/>
          </p:cNvSpPr>
          <p:nvPr/>
        </p:nvSpPr>
        <p:spPr>
          <a:xfrm>
            <a:off x="482404" y="874279"/>
            <a:ext cx="2609850" cy="301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2F600BF-9798-567A-C94E-D823AB55B8F6}"/>
              </a:ext>
            </a:extLst>
          </p:cNvPr>
          <p:cNvSpPr txBox="1">
            <a:spLocks/>
          </p:cNvSpPr>
          <p:nvPr/>
        </p:nvSpPr>
        <p:spPr>
          <a:xfrm>
            <a:off x="482404" y="3177516"/>
            <a:ext cx="2609850" cy="1322564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168275" indent="-1682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6075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682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238" indent="-1158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6125" indent="-1158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public MCP servers in Claude Desktop and experiment</a:t>
            </a:r>
          </a:p>
          <a:p>
            <a:r>
              <a:rPr lang="en-US" dirty="0"/>
              <a:t>Experiment with Skills in Pro version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B5BCAEF-4189-10BC-91B0-60BEEAF18EBD}"/>
              </a:ext>
            </a:extLst>
          </p:cNvPr>
          <p:cNvSpPr txBox="1">
            <a:spLocks/>
          </p:cNvSpPr>
          <p:nvPr/>
        </p:nvSpPr>
        <p:spPr>
          <a:xfrm>
            <a:off x="482404" y="2795546"/>
            <a:ext cx="2609850" cy="301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explore more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8E730-E4B7-E549-36F7-4F6E90AB3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856" y="936192"/>
            <a:ext cx="4146179" cy="553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197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702DE1-3F05-2F48-2E52-7AB8ACAD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 Capability Map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793D3A-C805-9541-8787-68D59EBE0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11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2E539F-6FE9-EEBE-69E6-9D93FE608D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Chat: web, mobile</a:t>
            </a:r>
          </a:p>
          <a:p>
            <a:r>
              <a:rPr lang="en-US" dirty="0"/>
              <a:t>Artifacts: Code, PDF, PPT</a:t>
            </a:r>
          </a:p>
          <a:p>
            <a:r>
              <a:rPr lang="en-US" dirty="0"/>
              <a:t>Projects</a:t>
            </a:r>
          </a:p>
          <a:p>
            <a:r>
              <a:rPr lang="en-US" dirty="0"/>
              <a:t>CLI</a:t>
            </a:r>
          </a:p>
          <a:p>
            <a:r>
              <a:rPr lang="en-US" dirty="0"/>
              <a:t>Claude Code</a:t>
            </a:r>
          </a:p>
          <a:p>
            <a:r>
              <a:rPr lang="en-US" dirty="0"/>
              <a:t>Global Connectors</a:t>
            </a:r>
          </a:p>
          <a:p>
            <a:r>
              <a:rPr lang="en-US" dirty="0"/>
              <a:t>MCP</a:t>
            </a:r>
          </a:p>
          <a:p>
            <a:r>
              <a:rPr lang="en-US" dirty="0"/>
              <a:t>Skills</a:t>
            </a:r>
          </a:p>
          <a:p>
            <a:r>
              <a:rPr lang="en-US" dirty="0"/>
              <a:t>Agents</a:t>
            </a:r>
          </a:p>
          <a:p>
            <a:r>
              <a:rPr lang="en-US" dirty="0"/>
              <a:t>API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4E29C9-14FC-18FA-5407-85A0B972A5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C90311-DA8D-FE0C-C257-AE682B2CA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1" y="818243"/>
            <a:ext cx="4298023" cy="5732795"/>
          </a:xfrm>
          <a:prstGeom prst="rect">
            <a:avLst/>
          </a:prstGeom>
        </p:spPr>
      </p:pic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E8300D97-5565-E3B6-55AA-74402B6E145B}"/>
              </a:ext>
            </a:extLst>
          </p:cNvPr>
          <p:cNvSpPr txBox="1">
            <a:spLocks/>
          </p:cNvSpPr>
          <p:nvPr/>
        </p:nvSpPr>
        <p:spPr>
          <a:xfrm>
            <a:off x="482404" y="1256249"/>
            <a:ext cx="2609850" cy="1322564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168275" indent="-1682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6075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682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238" indent="-1158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6125" indent="-1158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 full capabilities of Claude</a:t>
            </a:r>
          </a:p>
          <a:p>
            <a:r>
              <a:rPr lang="en-US" dirty="0"/>
              <a:t>List them</a:t>
            </a:r>
          </a:p>
          <a:p>
            <a:r>
              <a:rPr lang="en-US" dirty="0"/>
              <a:t>Capabilities: Its affordances for Consumer and Enterprise</a:t>
            </a:r>
          </a:p>
          <a:p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6C07050-C872-705F-1531-8AF386C056DA}"/>
              </a:ext>
            </a:extLst>
          </p:cNvPr>
          <p:cNvSpPr txBox="1">
            <a:spLocks/>
          </p:cNvSpPr>
          <p:nvPr/>
        </p:nvSpPr>
        <p:spPr>
          <a:xfrm>
            <a:off x="482404" y="874279"/>
            <a:ext cx="2609850" cy="301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2F600BF-9798-567A-C94E-D823AB55B8F6}"/>
              </a:ext>
            </a:extLst>
          </p:cNvPr>
          <p:cNvSpPr txBox="1">
            <a:spLocks/>
          </p:cNvSpPr>
          <p:nvPr/>
        </p:nvSpPr>
        <p:spPr>
          <a:xfrm>
            <a:off x="482404" y="3177516"/>
            <a:ext cx="2609850" cy="1322564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168275" indent="-1682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6075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682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238" indent="-1158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6125" indent="-1158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</a:t>
            </a:r>
          </a:p>
          <a:p>
            <a:r>
              <a:rPr lang="en-US" dirty="0"/>
              <a:t>Skills</a:t>
            </a:r>
          </a:p>
          <a:p>
            <a:r>
              <a:rPr lang="en-US" dirty="0"/>
              <a:t>Using Global Connectors</a:t>
            </a:r>
          </a:p>
          <a:p>
            <a:r>
              <a:rPr lang="en-US" dirty="0"/>
              <a:t>Claude code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B5BCAEF-4189-10BC-91B0-60BEEAF18EBD}"/>
              </a:ext>
            </a:extLst>
          </p:cNvPr>
          <p:cNvSpPr txBox="1">
            <a:spLocks/>
          </p:cNvSpPr>
          <p:nvPr/>
        </p:nvSpPr>
        <p:spPr>
          <a:xfrm>
            <a:off x="482404" y="2795546"/>
            <a:ext cx="2609850" cy="301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explore more</a:t>
            </a:r>
          </a:p>
        </p:txBody>
      </p:sp>
    </p:spTree>
    <p:extLst>
      <p:ext uri="{BB962C8B-B14F-4D97-AF65-F5344CB8AC3E}">
        <p14:creationId xmlns:p14="http://schemas.microsoft.com/office/powerpoint/2010/main" val="3185527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702DE1-3F05-2F48-2E52-7AB8ACAD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 Document Roadmap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793D3A-C805-9541-8787-68D59EBE0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12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2E539F-6FE9-EEBE-69E6-9D93FE608D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Developer docs – by left </a:t>
            </a:r>
            <a:r>
              <a:rPr lang="en-US" dirty="0" err="1"/>
              <a:t>naviation</a:t>
            </a:r>
            <a:endParaRPr lang="en-US" dirty="0"/>
          </a:p>
          <a:p>
            <a:r>
              <a:rPr lang="en-US" dirty="0"/>
              <a:t>Support docs – by category</a:t>
            </a:r>
          </a:p>
          <a:p>
            <a:r>
              <a:rPr lang="en-US" dirty="0"/>
              <a:t>Dedicated sites – MCP, Skills</a:t>
            </a:r>
          </a:p>
          <a:p>
            <a:r>
              <a:rPr lang="en-US" dirty="0"/>
              <a:t>Research</a:t>
            </a:r>
          </a:p>
          <a:p>
            <a:r>
              <a:rPr lang="en-US" dirty="0"/>
              <a:t>Blogs</a:t>
            </a:r>
          </a:p>
          <a:p>
            <a:r>
              <a:rPr lang="en-US" dirty="0"/>
              <a:t>Announcements</a:t>
            </a:r>
          </a:p>
          <a:p>
            <a:r>
              <a:rPr lang="en-US" dirty="0"/>
              <a:t>Discord</a:t>
            </a:r>
          </a:p>
          <a:p>
            <a:r>
              <a:rPr lang="en-US" dirty="0"/>
              <a:t>Enterprise Resources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4E29C9-14FC-18FA-5407-85A0B972A5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E8300D97-5565-E3B6-55AA-74402B6E145B}"/>
              </a:ext>
            </a:extLst>
          </p:cNvPr>
          <p:cNvSpPr txBox="1">
            <a:spLocks/>
          </p:cNvSpPr>
          <p:nvPr/>
        </p:nvSpPr>
        <p:spPr>
          <a:xfrm>
            <a:off x="482404" y="1256249"/>
            <a:ext cx="2609850" cy="1322564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168275" indent="-1682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6075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682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238" indent="-1158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6125" indent="-1158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 you fill find at their site</a:t>
            </a:r>
          </a:p>
          <a:p>
            <a:r>
              <a:rPr lang="en-US" dirty="0"/>
              <a:t>What is the documentation structure of Claude</a:t>
            </a:r>
          </a:p>
          <a:p>
            <a:r>
              <a:rPr lang="en-US" dirty="0"/>
              <a:t>Website organization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6C07050-C872-705F-1531-8AF386C056DA}"/>
              </a:ext>
            </a:extLst>
          </p:cNvPr>
          <p:cNvSpPr txBox="1">
            <a:spLocks/>
          </p:cNvSpPr>
          <p:nvPr/>
        </p:nvSpPr>
        <p:spPr>
          <a:xfrm>
            <a:off x="482404" y="874279"/>
            <a:ext cx="2609850" cy="301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</a:t>
            </a:r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22F600BF-9798-567A-C94E-D823AB55B8F6}"/>
              </a:ext>
            </a:extLst>
          </p:cNvPr>
          <p:cNvSpPr txBox="1">
            <a:spLocks/>
          </p:cNvSpPr>
          <p:nvPr/>
        </p:nvSpPr>
        <p:spPr>
          <a:xfrm>
            <a:off x="482404" y="3177516"/>
            <a:ext cx="2609850" cy="1322564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168275" indent="-1682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6075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 indent="-1682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238" indent="-1158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46125" indent="-1158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 additional resources I have missed?</a:t>
            </a:r>
          </a:p>
          <a:p>
            <a:r>
              <a:rPr lang="en-US" dirty="0"/>
              <a:t>List Enterprise Resources</a:t>
            </a:r>
          </a:p>
          <a:p>
            <a:r>
              <a:rPr lang="en-US" dirty="0"/>
              <a:t>Weak on architecture</a:t>
            </a:r>
          </a:p>
          <a:p>
            <a:r>
              <a:rPr lang="en-US" dirty="0"/>
              <a:t>Weak on diagrams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0B5BCAEF-4189-10BC-91B0-60BEEAF18EBD}"/>
              </a:ext>
            </a:extLst>
          </p:cNvPr>
          <p:cNvSpPr txBox="1">
            <a:spLocks/>
          </p:cNvSpPr>
          <p:nvPr/>
        </p:nvSpPr>
        <p:spPr>
          <a:xfrm>
            <a:off x="482404" y="2795546"/>
            <a:ext cx="2609850" cy="3016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explore more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A7F24-A861-9BF7-CD97-8449A8DE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615" y="778576"/>
            <a:ext cx="4335696" cy="578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01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2BD00F-8EA4-14C5-BD5F-97F9AD5132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Opportunities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F38F97-C294-632E-FD05-A5A19DE4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36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0E3244-86CC-ED51-EFBC-B4D48F99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Opportunities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40BAD-5564-4449-341E-F0DC31C35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6912"/>
            <a:ext cx="10515600" cy="5168678"/>
          </a:xfrm>
          <a:ln>
            <a:solidFill>
              <a:schemeClr val="tx1"/>
            </a:solidFill>
          </a:ln>
        </p:spPr>
        <p:txBody>
          <a:bodyPr tIns="182880"/>
          <a:lstStyle/>
          <a:p>
            <a:r>
              <a:rPr lang="en-US" sz="1800" dirty="0"/>
              <a:t>Experiment with Skills in Claude.ai</a:t>
            </a:r>
          </a:p>
          <a:p>
            <a:r>
              <a:rPr lang="en-US" sz="1800" dirty="0"/>
              <a:t>Experiment with Skills in Claude desktop</a:t>
            </a:r>
          </a:p>
          <a:p>
            <a:endParaRPr lang="en-US" sz="1800" dirty="0"/>
          </a:p>
          <a:p>
            <a:r>
              <a:rPr lang="en-US" sz="1800" dirty="0"/>
              <a:t>Use CDP Projects and Document creation more (.md, word, excel, ppt) </a:t>
            </a:r>
          </a:p>
          <a:p>
            <a:r>
              <a:rPr lang="en-US" sz="1800" dirty="0" err="1"/>
              <a:t>Oauth</a:t>
            </a:r>
            <a:r>
              <a:rPr lang="en-US" sz="1800" dirty="0"/>
              <a:t> and MCP</a:t>
            </a:r>
          </a:p>
          <a:p>
            <a:endParaRPr lang="en-US" sz="1800" dirty="0"/>
          </a:p>
          <a:p>
            <a:r>
              <a:rPr lang="en-US" sz="1800" dirty="0"/>
              <a:t>See if “English” Agents can work in Claude (no code)</a:t>
            </a:r>
          </a:p>
          <a:p>
            <a:r>
              <a:rPr lang="en-US" sz="1800" dirty="0"/>
              <a:t>Explore public skills and MCP servers</a:t>
            </a:r>
          </a:p>
          <a:p>
            <a:endParaRPr lang="en-US" sz="1800" dirty="0"/>
          </a:p>
          <a:p>
            <a:r>
              <a:rPr lang="en-US" sz="1800" dirty="0"/>
              <a:t>Claude Mobile</a:t>
            </a:r>
          </a:p>
          <a:p>
            <a:r>
              <a:rPr lang="en-US" sz="1800" dirty="0"/>
              <a:t>Automate IG image generation through Claude Mobile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065E80-6FA4-305C-D89F-9C4C2F48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59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2BD00F-8EA4-14C5-BD5F-97F9AD5132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Styling Notes for this Deck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F38F97-C294-632E-FD05-A5A19DE4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574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0E3244-86CC-ED51-EFBC-B4D48F99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delete this page: Available Layouts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40BAD-5564-4449-341E-F0DC31C35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0607"/>
            <a:ext cx="10515600" cy="5860946"/>
          </a:xfrm>
          <a:ln>
            <a:noFill/>
          </a:ln>
        </p:spPr>
        <p:txBody>
          <a:bodyPr/>
          <a:lstStyle/>
          <a:p>
            <a:r>
              <a:rPr lang="en-US" sz="1800" dirty="0"/>
              <a:t>Content Master: heading, top line, footer</a:t>
            </a:r>
          </a:p>
          <a:p>
            <a:pPr lvl="1"/>
            <a:r>
              <a:rPr lang="en-US" sz="1800" dirty="0"/>
              <a:t>Default: Title + Main list</a:t>
            </a:r>
          </a:p>
          <a:p>
            <a:pPr lvl="1"/>
            <a:r>
              <a:rPr lang="en-US" sz="1800" dirty="0"/>
              <a:t>Empty page: No body, full access</a:t>
            </a:r>
          </a:p>
          <a:p>
            <a:pPr lvl="1"/>
            <a:r>
              <a:rPr lang="en-US" sz="1800" dirty="0"/>
              <a:t>Figure + Annotation</a:t>
            </a:r>
          </a:p>
          <a:p>
            <a:r>
              <a:rPr lang="en-US" sz="1800" dirty="0"/>
              <a:t>Non Content Master</a:t>
            </a:r>
          </a:p>
          <a:p>
            <a:pPr lvl="1"/>
            <a:r>
              <a:rPr lang="en-US" sz="1800" dirty="0"/>
              <a:t>Title page</a:t>
            </a:r>
          </a:p>
          <a:p>
            <a:pPr lvl="1"/>
            <a:r>
              <a:rPr lang="en-US" sz="1800" dirty="0"/>
              <a:t>Separator page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065E80-6FA4-305C-D89F-9C4C2F48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55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0E3244-86CC-ED51-EFBC-B4D48F99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Paragraph Controls: The left side Indent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40BAD-5564-4449-341E-F0DC31C35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026634"/>
            <a:ext cx="10515599" cy="5329715"/>
          </a:xfrm>
        </p:spPr>
        <p:txBody>
          <a:bodyPr lIns="0" tIns="91440"/>
          <a:lstStyle/>
          <a:p>
            <a:pPr marL="274320" indent="0"/>
            <a:r>
              <a:rPr lang="en-US" sz="1800" dirty="0"/>
              <a:t>They apply to each line (that is a paragraph) in the bulleted list</a:t>
            </a:r>
          </a:p>
          <a:p>
            <a:pPr marL="274320" indent="0"/>
            <a:r>
              <a:rPr lang="en-US" sz="1800" dirty="0"/>
              <a:t>Indent: Where the lines start on the left corresponding to the padding of the shape</a:t>
            </a:r>
          </a:p>
          <a:p>
            <a:pPr marL="274320" indent="0"/>
            <a:r>
              <a:rPr lang="en-US" sz="1800" dirty="0"/>
              <a:t>Special: None, All lines honor the left indent</a:t>
            </a:r>
          </a:p>
          <a:p>
            <a:pPr marL="274320" indent="0"/>
            <a:r>
              <a:rPr lang="en-US" sz="1800" dirty="0"/>
              <a:t>Special: First line: A special left indent for the first line</a:t>
            </a:r>
          </a:p>
          <a:p>
            <a:pPr marL="274320" indent="0"/>
            <a:r>
              <a:rPr lang="en-US" sz="1800" dirty="0"/>
              <a:t>Special: Hanging: First line stays at the left indent, rest of the lines follow this</a:t>
            </a:r>
          </a:p>
          <a:p>
            <a:pPr marL="274320" indent="0"/>
            <a:r>
              <a:rPr lang="en-US" sz="1800" dirty="0"/>
              <a:t>Again Note: This “in each bulleted line”. Does not apply to the other lines</a:t>
            </a:r>
          </a:p>
          <a:p>
            <a:pPr marL="274320" indent="0"/>
            <a:r>
              <a:rPr lang="en-US" sz="1800" dirty="0"/>
              <a:t>Recommendation</a:t>
            </a:r>
          </a:p>
          <a:p>
            <a:pPr marL="674370" lvl="1" indent="0"/>
            <a:r>
              <a:rPr lang="en-US" sz="1800" dirty="0"/>
              <a:t>Use left indent</a:t>
            </a:r>
          </a:p>
          <a:p>
            <a:pPr marL="674370" lvl="1" indent="0"/>
            <a:r>
              <a:rPr lang="en-US" sz="1800" dirty="0"/>
              <a:t>Use special to None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6375BB-A417-BFDF-DF3D-984BE8D7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16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0E3244-86CC-ED51-EFBC-B4D48F99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Paragraph Controls: The spacing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40BAD-5564-4449-341E-F0DC31C35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026634"/>
            <a:ext cx="10515599" cy="5329715"/>
          </a:xfrm>
        </p:spPr>
        <p:txBody>
          <a:bodyPr lIns="0" tIns="91440"/>
          <a:lstStyle/>
          <a:p>
            <a:pPr marL="274320" indent="0"/>
            <a:r>
              <a:rPr lang="en-US" sz="1800" dirty="0"/>
              <a:t>They apply to each line (that is a paragraph) in the bulleted list</a:t>
            </a:r>
          </a:p>
          <a:p>
            <a:pPr marL="274320" indent="0"/>
            <a:r>
              <a:rPr lang="en-US" sz="1800" dirty="0"/>
              <a:t>Not between the bullets!!</a:t>
            </a:r>
          </a:p>
          <a:p>
            <a:pPr marL="274320" indent="0"/>
            <a:r>
              <a:rPr lang="en-US" sz="1800" dirty="0"/>
              <a:t>Very tricky!!</a:t>
            </a:r>
          </a:p>
          <a:p>
            <a:pPr marL="274320" indent="0"/>
            <a:r>
              <a:rPr lang="en-US" sz="1800" dirty="0"/>
              <a:t>Before and after refers to each line inside ONE bullet</a:t>
            </a:r>
          </a:p>
          <a:p>
            <a:pPr marL="274320" indent="0"/>
            <a:r>
              <a:rPr lang="en-US" sz="1800" dirty="0"/>
              <a:t>Line spacing (single, double, </a:t>
            </a:r>
            <a:r>
              <a:rPr lang="en-US" sz="1800" dirty="0" err="1"/>
              <a:t>etc</a:t>
            </a:r>
            <a:r>
              <a:rPr lang="en-US" sz="1800" dirty="0"/>
              <a:t>) is for lines inside a paragraph</a:t>
            </a:r>
          </a:p>
          <a:p>
            <a:pPr marL="274320" indent="0"/>
            <a:r>
              <a:rPr lang="en-US" sz="1800" dirty="0"/>
              <a:t>Before and after is outside the paragraph</a:t>
            </a:r>
          </a:p>
          <a:p>
            <a:pPr marL="274320" indent="0"/>
            <a:r>
              <a:rPr lang="en-US" sz="1800" dirty="0"/>
              <a:t>So, if both are in play and if the line is a single line they add up</a:t>
            </a:r>
          </a:p>
          <a:p>
            <a:pPr marL="274320" indent="0"/>
            <a:r>
              <a:rPr lang="en-US" sz="1800" dirty="0"/>
              <a:t>For single line bullets, the “double spacing” inadvertently acts like as if it is applied to multiple bullets.</a:t>
            </a:r>
          </a:p>
          <a:p>
            <a:pPr marL="274320" indent="0"/>
            <a:r>
              <a:rPr lang="en-US" sz="1800" dirty="0"/>
              <a:t>Advice</a:t>
            </a:r>
          </a:p>
          <a:p>
            <a:pPr marL="674370" lvl="1" indent="0"/>
            <a:r>
              <a:rPr lang="en-US" sz="1800" dirty="0"/>
              <a:t>For spacing between the boundary and the list use the “shape” controls not paragraph</a:t>
            </a:r>
          </a:p>
          <a:p>
            <a:pPr marL="674370" lvl="1" indent="0"/>
            <a:r>
              <a:rPr lang="en-US" sz="1800" dirty="0"/>
              <a:t>Use before and after for better control when the list has bullets that are multi line</a:t>
            </a:r>
          </a:p>
          <a:p>
            <a:pPr marL="674370" lvl="1" indent="0"/>
            <a:r>
              <a:rPr lang="en-US" sz="1800" dirty="0"/>
              <a:t>For single line ones you can get away with line spacing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6375BB-A417-BFDF-DF3D-984BE8D7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73052-BA07-4FC5-9696-A0F7625044D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18673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-page-master-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Non-content-master-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8396</TotalTime>
  <Words>918</Words>
  <Application>Microsoft Office PowerPoint</Application>
  <PresentationFormat>Widescreen</PresentationFormat>
  <Paragraphs>166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Content-page-master-layout</vt:lpstr>
      <vt:lpstr>Non-content-master-layout</vt:lpstr>
      <vt:lpstr>Claude Execution Architecture &amp; Resources</vt:lpstr>
      <vt:lpstr>Index</vt:lpstr>
      <vt:lpstr>Claude Execution Architecture</vt:lpstr>
      <vt:lpstr>What is Claude Execution Architecture?</vt:lpstr>
      <vt:lpstr>PowerPoint Presentation</vt:lpstr>
      <vt:lpstr>PowerPoint Presentation</vt:lpstr>
      <vt:lpstr>PowerPoint Presentation</vt:lpstr>
      <vt:lpstr>PowerPoint Presentation</vt:lpstr>
      <vt:lpstr>Understanding Claude </vt:lpstr>
      <vt:lpstr>Claude Product Dimensions</vt:lpstr>
      <vt:lpstr>Claude Capability Map</vt:lpstr>
      <vt:lpstr>Claude Document Roadmap</vt:lpstr>
      <vt:lpstr>Opportunities</vt:lpstr>
      <vt:lpstr>Opportunities</vt:lpstr>
      <vt:lpstr>Styling Notes for this Deck</vt:lpstr>
      <vt:lpstr>Don’t delete this page: Available Layouts</vt:lpstr>
      <vt:lpstr>Paragraph Controls: The left side Indent</vt:lpstr>
      <vt:lpstr>Paragraph Controls: The spacing options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 Komatineni</dc:creator>
  <cp:lastModifiedBy>Satya Komatineni</cp:lastModifiedBy>
  <cp:revision>59</cp:revision>
  <dcterms:created xsi:type="dcterms:W3CDTF">2024-10-29T14:03:59Z</dcterms:created>
  <dcterms:modified xsi:type="dcterms:W3CDTF">2025-12-30T21:58:18Z</dcterms:modified>
</cp:coreProperties>
</file>